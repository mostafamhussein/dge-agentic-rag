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CF593E-2809-4DF3-B0C6-867F253B8BBC}" v="10" dt="2025-12-10T19:50:29.6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stafa Hussien" userId="6df4967077710cbe" providerId="Windows Live" clId="Web-{DECF593E-2809-4DF3-B0C6-867F253B8BBC}"/>
    <pc:docChg chg="modSld">
      <pc:chgData name="Mostafa Hussien" userId="6df4967077710cbe" providerId="Windows Live" clId="Web-{DECF593E-2809-4DF3-B0C6-867F253B8BBC}" dt="2025-12-10T19:50:26.991" v="8" actId="20577"/>
      <pc:docMkLst>
        <pc:docMk/>
      </pc:docMkLst>
      <pc:sldChg chg="modSp">
        <pc:chgData name="Mostafa Hussien" userId="6df4967077710cbe" providerId="Windows Live" clId="Web-{DECF593E-2809-4DF3-B0C6-867F253B8BBC}" dt="2025-12-10T19:50:26.991" v="8" actId="20577"/>
        <pc:sldMkLst>
          <pc:docMk/>
          <pc:sldMk cId="0" sldId="256"/>
        </pc:sldMkLst>
        <pc:spChg chg="mod">
          <ac:chgData name="Mostafa Hussien" userId="6df4967077710cbe" providerId="Windows Live" clId="Web-{DECF593E-2809-4DF3-B0C6-867F253B8BBC}" dt="2025-12-10T19:50:26.991" v="8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Mostafa Hussien" userId="6df4967077710cbe" providerId="Windows Live" clId="Web-{DECF593E-2809-4DF3-B0C6-867F253B8BBC}" dt="2025-12-10T19:50:19.601" v="5" actId="20577"/>
          <ac:spMkLst>
            <pc:docMk/>
            <pc:sldMk cId="0" sldId="256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E2099-C0C5-4DAB-A039-9AC5888BF372}" type="datetimeFigureOut"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1FB588-6D3F-4189-9CD4-EA3BDC7A343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93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46da98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719138"/>
            <a:ext cx="762000" cy="76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97996" y="1919288"/>
            <a:ext cx="594785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50"/>
              </a:lnSpc>
              <a:spcAft>
                <a:spcPts val="1200"/>
              </a:spcAft>
              <a:buNone/>
            </a:pPr>
            <a:r>
              <a:rPr lang="en-US" sz="3150" b="1" dirty="0">
                <a:solidFill>
                  <a:srgbClr val="F0F4F8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DGE Agentic RAG System</a:t>
            </a:r>
            <a:endParaRPr lang="en-US" sz="3150" dirty="0">
              <a:latin typeface="Arial Black"/>
            </a:endParaRPr>
          </a:p>
        </p:txBody>
      </p:sp>
      <p:sp>
        <p:nvSpPr>
          <p:cNvPr id="4" name="Text 1"/>
          <p:cNvSpPr/>
          <p:nvPr/>
        </p:nvSpPr>
        <p:spPr>
          <a:xfrm>
            <a:off x="2233754" y="2624138"/>
            <a:ext cx="46763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2250"/>
              </a:spcAft>
              <a:buNone/>
            </a:pPr>
            <a:r>
              <a:rPr lang="en-US" sz="15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Policy Assistant for Government Documents</a:t>
            </a:r>
            <a:endParaRPr lang="en-US" sz="1500" dirty="0"/>
          </a:p>
        </p:txBody>
      </p:sp>
      <p:pic>
        <p:nvPicPr>
          <p:cNvPr id="5" name="Image 1" descr="/tmp/rasterized-gradient-fa1d42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328988"/>
            <a:ext cx="1143000" cy="285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993018" y="3795713"/>
            <a:ext cx="115781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Mostafa Hussein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3184658" y="4237583"/>
            <a:ext cx="277453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70"/>
              </a:lnSpc>
              <a:spcBef>
                <a:spcPts val="600"/>
              </a:spcBef>
            </a:pPr>
            <a:r>
              <a:rPr lang="en-US" sz="1050" dirty="0">
                <a:solidFill>
                  <a:srgbClr val="5A7A9A"/>
                </a:solidFill>
                <a:latin typeface="Arial"/>
                <a:ea typeface="Arial" pitchFamily="34" charset="-122"/>
                <a:cs typeface="Arial"/>
              </a:rPr>
              <a:t>DGE Assessment • December 2025</a:t>
            </a:r>
            <a:endParaRPr lang="en-US" sz="1050" dirty="0">
              <a:latin typeface="Arial"/>
              <a:cs typeface="Arial"/>
            </a:endParaRPr>
          </a:p>
        </p:txBody>
      </p:sp>
      <p:pic>
        <p:nvPicPr>
          <p:cNvPr id="8" name="Image 2" descr="/tmp/rasterized-gradient-81abc6e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05400"/>
            <a:ext cx="9144000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38125"/>
            <a:ext cx="565442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Problem Statement &amp; Requirements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90500" y="1553914"/>
            <a:ext cx="3853755" cy="1289298"/>
          </a:xfrm>
          <a:prstGeom prst="roundRect">
            <a:avLst>
              <a:gd name="adj" fmla="val 8865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09550" y="1553914"/>
            <a:ext cx="0" cy="1289298"/>
          </a:xfrm>
          <a:prstGeom prst="line">
            <a:avLst/>
          </a:prstGeom>
          <a:noFill/>
          <a:ln w="381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9100" y="1744414"/>
            <a:ext cx="350334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19100" y="2012900"/>
            <a:ext cx="3503349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 Dhabi Government has extensive policy documents (HR, Procurement, Security) that employees need to query quickly and accurately.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90500" y="2995613"/>
            <a:ext cx="3853755" cy="1289298"/>
          </a:xfrm>
          <a:prstGeom prst="roundRect">
            <a:avLst>
              <a:gd name="adj" fmla="val 8865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09550" y="2995613"/>
            <a:ext cx="0" cy="1289298"/>
          </a:xfrm>
          <a:prstGeom prst="line">
            <a:avLst/>
          </a:prstGeom>
          <a:noFill/>
          <a:ln w="381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9100" y="3186113"/>
            <a:ext cx="350334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19100" y="3454598"/>
            <a:ext cx="3503349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</a:t>
            </a:r>
            <a:r>
              <a:rPr lang="en-US" sz="105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RAG</a:t>
            </a:r>
            <a:r>
              <a:rPr lang="en-US" sz="10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system with multiple AI agents that route, retrieve, and generate cited answers from policy documents.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34755" y="1496467"/>
            <a:ext cx="4718745" cy="2845891"/>
          </a:xfrm>
          <a:prstGeom prst="roundRect">
            <a:avLst>
              <a:gd name="adj" fmla="val 4016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25255" y="1686967"/>
            <a:ext cx="442449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REQUIREMENTS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4425255" y="3503265"/>
            <a:ext cx="4337745" cy="0"/>
          </a:xfrm>
          <a:prstGeom prst="line">
            <a:avLst/>
          </a:prstGeom>
          <a:noFill/>
          <a:ln w="9525">
            <a:solidFill>
              <a:srgbClr val="2A4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15553" y="3660428"/>
            <a:ext cx="98961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15553" y="4018508"/>
            <a:ext cx="9896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Services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538164" y="3660428"/>
            <a:ext cx="98961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538164" y="4018508"/>
            <a:ext cx="9896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660774" y="3660428"/>
            <a:ext cx="98961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486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60774" y="4018508"/>
            <a:ext cx="9896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 Chunks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783385" y="3660428"/>
            <a:ext cx="98961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783385" y="4018508"/>
            <a:ext cx="9896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(No API)</a:t>
            </a:r>
            <a:endParaRPr lang="en-US" sz="750" dirty="0"/>
          </a:p>
        </p:txBody>
      </p:sp>
      <p:pic>
        <p:nvPicPr>
          <p:cNvPr id="22" name="Image 0" descr="/tmp/rasterized-gradient-aebfee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05400"/>
            <a:ext cx="9144000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38125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Design Choices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90500" y="838200"/>
            <a:ext cx="2832050" cy="1298525"/>
          </a:xfrm>
          <a:prstGeom prst="roundRect">
            <a:avLst>
              <a:gd name="adj" fmla="val 7335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2900" y="9906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2900" y="1428750"/>
            <a:ext cx="257779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+ BM25</a:t>
            </a:r>
            <a:r>
              <a:rPr lang="en-US" sz="825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search combined. Vector finds semantic matches ("vacation" → "leave"), BM25 finds exact keywords ("Article 70").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3155900" y="838200"/>
            <a:ext cx="2832050" cy="1298525"/>
          </a:xfrm>
          <a:prstGeom prst="roundRect">
            <a:avLst>
              <a:gd name="adj" fmla="val 7335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08300" y="9906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FD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08300" y="1428750"/>
            <a:ext cx="257779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specialized agents</a:t>
            </a:r>
            <a:r>
              <a:rPr lang="en-US" sz="825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Router classifies, Rewriter optimizes, Answer generates, Validator checks. Single responsibility principle.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6121301" y="838200"/>
            <a:ext cx="2832199" cy="1298525"/>
          </a:xfrm>
          <a:prstGeom prst="roundRect">
            <a:avLst>
              <a:gd name="adj" fmla="val 7335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73701" y="9906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73701" y="1428750"/>
            <a:ext cx="257794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OpenAI API</a:t>
            </a:r>
            <a:r>
              <a:rPr lang="en-US" sz="825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dependency. llama3.1 runs locally via Ollama. Zero API costs, data privacy, works offline.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190500" y="2270075"/>
            <a:ext cx="2832050" cy="1298525"/>
          </a:xfrm>
          <a:prstGeom prst="roundRect">
            <a:avLst>
              <a:gd name="adj" fmla="val 7335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2900" y="242247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FD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2900" y="2860625"/>
            <a:ext cx="257779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for everything</a:t>
            </a:r>
            <a:r>
              <a:rPr lang="en-US" sz="825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Already need it for conversation memory → use pgvector extension. One less service to manage.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155900" y="2270075"/>
            <a:ext cx="2832050" cy="1298525"/>
          </a:xfrm>
          <a:prstGeom prst="roundRect">
            <a:avLst>
              <a:gd name="adj" fmla="val 7335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08300" y="242247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08300" y="2860625"/>
            <a:ext cx="257779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Preserves structure</a:t>
            </a:r>
            <a:r>
              <a:rPr lang="en-US" sz="825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PDF → Markdown keeps headers, tables, lists intact. Better semantic chunking than raw text.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121301" y="2270075"/>
            <a:ext cx="2832199" cy="1298525"/>
          </a:xfrm>
          <a:prstGeom prst="roundRect">
            <a:avLst>
              <a:gd name="adj" fmla="val 7335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73701" y="242247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FD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73701" y="2860625"/>
            <a:ext cx="2577947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/v1/chat/completions</a:t>
            </a:r>
            <a:r>
              <a:rPr lang="en-US" sz="825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endpoint. Open WebUI works out-of-box. Any OpenAI client compatible. Standard interface.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190500" y="3701951"/>
            <a:ext cx="2832050" cy="1298674"/>
          </a:xfrm>
          <a:prstGeom prst="roundRect">
            <a:avLst>
              <a:gd name="adj" fmla="val 7334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42900" y="3854351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42900" y="4292501"/>
            <a:ext cx="257779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bge-reranker-base</a:t>
            </a:r>
            <a:r>
              <a:rPr lang="en-US" sz="825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More accurate than bi-encoder. Takes 10 candidates, returns top 5 after deep scoring.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3155900" y="3701951"/>
            <a:ext cx="2832050" cy="1298674"/>
          </a:xfrm>
          <a:prstGeom prst="roundRect">
            <a:avLst>
              <a:gd name="adj" fmla="val 7334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308300" y="3854351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FD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308300" y="4292501"/>
            <a:ext cx="257779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PostgreSQL-backed</a:t>
            </a:r>
            <a:r>
              <a:rPr lang="en-US" sz="825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Last 5 messages passed to agents. Enables contextual follow-ups like "How many days?" after leave discussion.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6121301" y="3701951"/>
            <a:ext cx="2832199" cy="1298674"/>
          </a:xfrm>
          <a:prstGeom prst="roundRect">
            <a:avLst>
              <a:gd name="adj" fmla="val 7334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273701" y="3854351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273701" y="4292501"/>
            <a:ext cx="2577947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observability</a:t>
            </a:r>
            <a:r>
              <a:rPr lang="en-US" sz="825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Every LLM call traced via OpenTelemetry. See routing decisions, retrieval, latencies in dashboard.</a:t>
            </a:r>
            <a:endParaRPr lang="en-US" sz="825" dirty="0"/>
          </a:p>
        </p:txBody>
      </p:sp>
      <p:pic>
        <p:nvPicPr>
          <p:cNvPr id="30" name="Image 0" descr="/tmp/rasterized-gradient-7d22ac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05400"/>
            <a:ext cx="9144000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38125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System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90500" y="1349871"/>
            <a:ext cx="8763000" cy="801886"/>
          </a:xfrm>
          <a:prstGeom prst="roundRect">
            <a:avLst>
              <a:gd name="adj" fmla="val 11878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2900" y="1579364"/>
            <a:ext cx="1682204" cy="342900"/>
          </a:xfrm>
          <a:prstGeom prst="roundRect">
            <a:avLst>
              <a:gd name="adj" fmla="val 11111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42664" y="1617464"/>
            <a:ext cx="14826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177504" y="1464171"/>
            <a:ext cx="1152971" cy="573286"/>
          </a:xfrm>
          <a:prstGeom prst="roundRect">
            <a:avLst>
              <a:gd name="adj" fmla="val 13292"/>
            </a:avLst>
          </a:prstGeom>
          <a:solidFill>
            <a:srgbClr val="152238"/>
          </a:solidFill>
          <a:ln w="19050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379716" y="1578471"/>
            <a:ext cx="74854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WebUI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2379716" y="1789807"/>
            <a:ext cx="7485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3000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90500" y="2266057"/>
            <a:ext cx="8763000" cy="744736"/>
          </a:xfrm>
          <a:prstGeom prst="roundRect">
            <a:avLst>
              <a:gd name="adj" fmla="val 1279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2900" y="2456557"/>
            <a:ext cx="1474291" cy="342900"/>
          </a:xfrm>
          <a:prstGeom prst="roundRect">
            <a:avLst>
              <a:gd name="adj" fmla="val 11111"/>
            </a:avLst>
          </a:prstGeom>
          <a:solidFill>
            <a:srgbClr val="FFD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44743" y="2494657"/>
            <a:ext cx="12706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969591" y="2380357"/>
            <a:ext cx="803970" cy="516136"/>
          </a:xfrm>
          <a:prstGeom prst="roundRect">
            <a:avLst>
              <a:gd name="adj" fmla="val 14764"/>
            </a:avLst>
          </a:prstGeom>
          <a:solidFill>
            <a:srgbClr val="152238"/>
          </a:solidFill>
          <a:ln w="19050">
            <a:solidFill>
              <a:srgbClr val="FFD7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136431" y="2475607"/>
            <a:ext cx="47029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2136431" y="2667893"/>
            <a:ext cx="4702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8000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154561" y="2514600"/>
            <a:ext cx="497532" cy="247650"/>
          </a:xfrm>
          <a:prstGeom prst="roundRect">
            <a:avLst>
              <a:gd name="adj" fmla="val 23077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246741" y="2571750"/>
            <a:ext cx="3131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728293" y="2514600"/>
            <a:ext cx="571649" cy="247650"/>
          </a:xfrm>
          <a:prstGeom prst="roundRect">
            <a:avLst>
              <a:gd name="adj" fmla="val 23077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819732" y="2571750"/>
            <a:ext cx="3887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Rewriter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376142" y="2514600"/>
            <a:ext cx="534591" cy="247650"/>
          </a:xfrm>
          <a:prstGeom prst="roundRect">
            <a:avLst>
              <a:gd name="adj" fmla="val 23077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467951" y="2571750"/>
            <a:ext cx="350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986933" y="2514600"/>
            <a:ext cx="592931" cy="247650"/>
          </a:xfrm>
          <a:prstGeom prst="roundRect">
            <a:avLst>
              <a:gd name="adj" fmla="val 23077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078158" y="2571750"/>
            <a:ext cx="410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Validator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960864" y="2400300"/>
            <a:ext cx="1205508" cy="476101"/>
          </a:xfrm>
          <a:prstGeom prst="roundRect">
            <a:avLst>
              <a:gd name="adj" fmla="val 16005"/>
            </a:avLst>
          </a:prstGeom>
          <a:solidFill>
            <a:srgbClr val="152238"/>
          </a:solidFill>
          <a:ln w="19050">
            <a:solidFill>
              <a:srgbClr val="FFD7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094214" y="2495550"/>
            <a:ext cx="95758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Retriever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6094214" y="2661196"/>
            <a:ext cx="9575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+ BM25 + Rerank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190500" y="3125093"/>
            <a:ext cx="8763000" cy="1068586"/>
          </a:xfrm>
          <a:prstGeom prst="roundRect">
            <a:avLst>
              <a:gd name="adj" fmla="val 891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42900" y="3315593"/>
            <a:ext cx="1361480" cy="342900"/>
          </a:xfrm>
          <a:prstGeom prst="roundRect">
            <a:avLst>
              <a:gd name="adj" fmla="val 11111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45871" y="3353693"/>
            <a:ext cx="11555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856780" y="3239393"/>
            <a:ext cx="2213223" cy="839986"/>
          </a:xfrm>
          <a:prstGeom prst="roundRect">
            <a:avLst>
              <a:gd name="adj" fmla="val 9072"/>
            </a:avLst>
          </a:prstGeom>
          <a:solidFill>
            <a:srgbClr val="152238"/>
          </a:solidFill>
          <a:ln w="19050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009526" y="3372743"/>
            <a:ext cx="19077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pgvector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2009526" y="3584079"/>
            <a:ext cx="19077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5432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222403" y="3239393"/>
            <a:ext cx="2213223" cy="839986"/>
          </a:xfrm>
          <a:prstGeom prst="roundRect">
            <a:avLst>
              <a:gd name="adj" fmla="val 9072"/>
            </a:avLst>
          </a:prstGeom>
          <a:solidFill>
            <a:srgbClr val="152238"/>
          </a:solidFill>
          <a:ln w="19050">
            <a:solidFill>
              <a:srgbClr val="FFD7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375150" y="3372743"/>
            <a:ext cx="19077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4375150" y="3584079"/>
            <a:ext cx="19077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11434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588026" y="3239393"/>
            <a:ext cx="2213223" cy="839986"/>
          </a:xfrm>
          <a:prstGeom prst="roundRect">
            <a:avLst>
              <a:gd name="adj" fmla="val 9072"/>
            </a:avLst>
          </a:prstGeom>
          <a:solidFill>
            <a:srgbClr val="152238"/>
          </a:solidFill>
          <a:ln w="19050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740773" y="3372743"/>
            <a:ext cx="19077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Phoenix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6740773" y="3584079"/>
            <a:ext cx="19077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6006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243286" y="4388941"/>
            <a:ext cx="95250" cy="95250"/>
          </a:xfrm>
          <a:prstGeom prst="roundRect">
            <a:avLst>
              <a:gd name="adj" fmla="val 2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116759" y="4388941"/>
            <a:ext cx="95250" cy="95250"/>
          </a:xfrm>
          <a:prstGeom prst="roundRect">
            <a:avLst>
              <a:gd name="adj" fmla="val 20000"/>
            </a:avLst>
          </a:prstGeom>
          <a:solidFill>
            <a:srgbClr val="FFD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810149" y="4388941"/>
            <a:ext cx="95250" cy="95250"/>
          </a:xfrm>
          <a:prstGeom prst="roundRect">
            <a:avLst>
              <a:gd name="adj" fmla="val 2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937820" y="4388941"/>
            <a:ext cx="95250" cy="95250"/>
          </a:xfrm>
          <a:prstGeom prst="roundRect">
            <a:avLst>
              <a:gd name="adj" fmla="val 20000"/>
            </a:avLst>
          </a:prstGeom>
          <a:solidFill>
            <a:srgbClr val="FFD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102400" y="4388941"/>
            <a:ext cx="95250" cy="95250"/>
          </a:xfrm>
          <a:prstGeom prst="roundRect">
            <a:avLst>
              <a:gd name="adj" fmla="val 2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3" name="Image 0" descr="/tmp/rasterized-gradient-d3c1738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05400"/>
            <a:ext cx="9144000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38125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 Ingestion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619125"/>
            <a:ext cx="874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Processing Pipeline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38175" y="1687711"/>
            <a:ext cx="1238250" cy="1017240"/>
          </a:xfrm>
          <a:prstGeom prst="roundRect">
            <a:avLst>
              <a:gd name="adj" fmla="val 9364"/>
            </a:avLst>
          </a:prstGeom>
          <a:solidFill>
            <a:srgbClr val="152238"/>
          </a:solidFill>
          <a:ln w="19050">
            <a:solidFill>
              <a:srgbClr val="FFD7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0672" y="1859161"/>
            <a:ext cx="9132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0672" y="2202061"/>
            <a:ext cx="9132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Documents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0672" y="2400151"/>
            <a:ext cx="9132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Policy Files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990725" y="2063055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pic>
        <p:nvPicPr>
          <p:cNvPr id="9" name="Image 0" descr="/tmp/rasterized-gradient-da2945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5525" y="1706761"/>
            <a:ext cx="1238250" cy="9791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438591" y="1859161"/>
            <a:ext cx="9521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438591" y="2202061"/>
            <a:ext cx="95211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Docling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438591" y="2400151"/>
            <a:ext cx="9521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→ Markdown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648075" y="2063055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952875" y="1607790"/>
            <a:ext cx="1238250" cy="1177230"/>
          </a:xfrm>
          <a:prstGeom prst="roundRect">
            <a:avLst>
              <a:gd name="adj" fmla="val 8091"/>
            </a:avLst>
          </a:prstGeom>
          <a:solidFill>
            <a:srgbClr val="152238"/>
          </a:solidFill>
          <a:ln w="19050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115372" y="1779240"/>
            <a:ext cx="9132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✂️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115372" y="2122140"/>
            <a:ext cx="91325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Chunk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115372" y="2480221"/>
            <a:ext cx="9132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~500 tokens/chunk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305425" y="2063055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pic>
        <p:nvPicPr>
          <p:cNvPr id="19" name="Image 1" descr="/tmp/rasterized-gradient-1bd268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0225" y="1706761"/>
            <a:ext cx="1238250" cy="9791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753291" y="1859161"/>
            <a:ext cx="9521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🧮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5753291" y="2202061"/>
            <a:ext cx="95211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753291" y="2400151"/>
            <a:ext cx="9521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bge-base-en-v1.5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6962775" y="2063055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7267575" y="1687711"/>
            <a:ext cx="1238250" cy="1017240"/>
          </a:xfrm>
          <a:prstGeom prst="roundRect">
            <a:avLst>
              <a:gd name="adj" fmla="val 9364"/>
            </a:avLst>
          </a:prstGeom>
          <a:solidFill>
            <a:srgbClr val="152238"/>
          </a:solidFill>
          <a:ln w="19050">
            <a:solidFill>
              <a:srgbClr val="FFD7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7430071" y="1859161"/>
            <a:ext cx="9132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7430071" y="2202061"/>
            <a:ext cx="9132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 Store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7430071" y="2400151"/>
            <a:ext cx="9132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768-dim vectors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190500" y="2975521"/>
            <a:ext cx="2819400" cy="1565821"/>
          </a:xfrm>
          <a:prstGeom prst="roundRect">
            <a:avLst>
              <a:gd name="adj" fmla="val 6083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342900" y="3127921"/>
            <a:ext cx="25648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MARKDOWN OUTPUT?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546795" y="3383161"/>
            <a:ext cx="235692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Preserves Structure</a:t>
            </a:r>
            <a:r>
              <a:rPr lang="en-US" sz="82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Headers become #, tables stay intact</a:t>
            </a:r>
            <a:endParaRPr lang="en-US" sz="825" dirty="0"/>
          </a:p>
        </p:txBody>
      </p:sp>
      <p:sp>
        <p:nvSpPr>
          <p:cNvPr id="31" name="Text 27"/>
          <p:cNvSpPr/>
          <p:nvPr/>
        </p:nvSpPr>
        <p:spPr>
          <a:xfrm>
            <a:off x="546795" y="3752552"/>
            <a:ext cx="235692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Chunking</a:t>
            </a:r>
            <a:r>
              <a:rPr lang="en-US" sz="82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Semantic boundaries at sections</a:t>
            </a:r>
            <a:endParaRPr lang="en-US" sz="825" dirty="0"/>
          </a:p>
        </p:txBody>
      </p:sp>
      <p:sp>
        <p:nvSpPr>
          <p:cNvPr id="32" name="Text 28"/>
          <p:cNvSpPr/>
          <p:nvPr/>
        </p:nvSpPr>
        <p:spPr>
          <a:xfrm>
            <a:off x="546795" y="4121944"/>
            <a:ext cx="22198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Disabled</a:t>
            </a:r>
            <a:r>
              <a:rPr lang="en-US" sz="82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Avoids network dependencies</a:t>
            </a:r>
            <a:endParaRPr lang="en-US" sz="825" dirty="0"/>
          </a:p>
        </p:txBody>
      </p:sp>
      <p:sp>
        <p:nvSpPr>
          <p:cNvPr id="33" name="Text 29"/>
          <p:cNvSpPr/>
          <p:nvPr/>
        </p:nvSpPr>
        <p:spPr>
          <a:xfrm>
            <a:off x="3162300" y="2975521"/>
            <a:ext cx="2819400" cy="1565821"/>
          </a:xfrm>
          <a:prstGeom prst="roundRect">
            <a:avLst>
              <a:gd name="adj" fmla="val 6083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3314700" y="3127921"/>
            <a:ext cx="25648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CHUNKING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3518595" y="3383161"/>
            <a:ext cx="20255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Fixed-Size</a:t>
            </a:r>
            <a:r>
              <a:rPr lang="en-US" sz="82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Splits at topic boundaries</a:t>
            </a:r>
            <a:endParaRPr lang="en-US" sz="825" dirty="0"/>
          </a:p>
        </p:txBody>
      </p:sp>
      <p:sp>
        <p:nvSpPr>
          <p:cNvPr id="36" name="Text 32"/>
          <p:cNvSpPr/>
          <p:nvPr/>
        </p:nvSpPr>
        <p:spPr>
          <a:xfrm>
            <a:off x="3518595" y="3640336"/>
            <a:ext cx="235692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Embedding-Based</a:t>
            </a:r>
            <a:r>
              <a:rPr lang="en-US" sz="82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Uses similarity to detect breaks</a:t>
            </a:r>
            <a:endParaRPr lang="en-US" sz="825" dirty="0"/>
          </a:p>
        </p:txBody>
      </p:sp>
      <p:sp>
        <p:nvSpPr>
          <p:cNvPr id="37" name="Text 33"/>
          <p:cNvSpPr/>
          <p:nvPr/>
        </p:nvSpPr>
        <p:spPr>
          <a:xfrm>
            <a:off x="3518595" y="4009727"/>
            <a:ext cx="235692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Coherent Chunks</a:t>
            </a:r>
            <a:r>
              <a:rPr lang="en-US" sz="82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Each chunk is a complete topic</a:t>
            </a:r>
            <a:endParaRPr lang="en-US" sz="825" dirty="0"/>
          </a:p>
        </p:txBody>
      </p:sp>
      <p:sp>
        <p:nvSpPr>
          <p:cNvPr id="38" name="Text 34"/>
          <p:cNvSpPr/>
          <p:nvPr/>
        </p:nvSpPr>
        <p:spPr>
          <a:xfrm>
            <a:off x="6134100" y="2975521"/>
            <a:ext cx="2819400" cy="1565821"/>
          </a:xfrm>
          <a:prstGeom prst="roundRect">
            <a:avLst>
              <a:gd name="adj" fmla="val 6083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6286500" y="3127921"/>
            <a:ext cx="25648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INDEXING STATS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6274499" y="3383161"/>
            <a:ext cx="1224153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50" dirty="0"/>
          </a:p>
        </p:txBody>
      </p:sp>
      <p:sp>
        <p:nvSpPr>
          <p:cNvPr id="41" name="Text 37"/>
          <p:cNvSpPr/>
          <p:nvPr/>
        </p:nvSpPr>
        <p:spPr>
          <a:xfrm>
            <a:off x="6274499" y="3695551"/>
            <a:ext cx="12241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PDFs</a:t>
            </a:r>
            <a:endParaRPr lang="en-US" sz="750" dirty="0"/>
          </a:p>
        </p:txBody>
      </p:sp>
      <p:sp>
        <p:nvSpPr>
          <p:cNvPr id="42" name="Text 38"/>
          <p:cNvSpPr/>
          <p:nvPr/>
        </p:nvSpPr>
        <p:spPr>
          <a:xfrm>
            <a:off x="7588949" y="3383161"/>
            <a:ext cx="1224153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486</a:t>
            </a:r>
            <a:endParaRPr lang="en-US" sz="1650" dirty="0"/>
          </a:p>
        </p:txBody>
      </p:sp>
      <p:sp>
        <p:nvSpPr>
          <p:cNvPr id="43" name="Text 39"/>
          <p:cNvSpPr/>
          <p:nvPr/>
        </p:nvSpPr>
        <p:spPr>
          <a:xfrm>
            <a:off x="7588949" y="3695551"/>
            <a:ext cx="12241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Chunks</a:t>
            </a:r>
            <a:endParaRPr lang="en-US" sz="750" dirty="0"/>
          </a:p>
        </p:txBody>
      </p:sp>
      <p:sp>
        <p:nvSpPr>
          <p:cNvPr id="44" name="Text 40"/>
          <p:cNvSpPr/>
          <p:nvPr/>
        </p:nvSpPr>
        <p:spPr>
          <a:xfrm>
            <a:off x="6274499" y="3943201"/>
            <a:ext cx="1224153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768</a:t>
            </a:r>
            <a:endParaRPr lang="en-US" sz="1650" dirty="0"/>
          </a:p>
        </p:txBody>
      </p:sp>
      <p:sp>
        <p:nvSpPr>
          <p:cNvPr id="45" name="Text 41"/>
          <p:cNvSpPr/>
          <p:nvPr/>
        </p:nvSpPr>
        <p:spPr>
          <a:xfrm>
            <a:off x="6274499" y="4255591"/>
            <a:ext cx="12241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Dimensions</a:t>
            </a:r>
            <a:endParaRPr lang="en-US" sz="750" dirty="0"/>
          </a:p>
        </p:txBody>
      </p:sp>
      <p:sp>
        <p:nvSpPr>
          <p:cNvPr id="46" name="Text 42"/>
          <p:cNvSpPr/>
          <p:nvPr/>
        </p:nvSpPr>
        <p:spPr>
          <a:xfrm>
            <a:off x="7588949" y="3943201"/>
            <a:ext cx="1224153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~500</a:t>
            </a:r>
            <a:endParaRPr lang="en-US" sz="1650" dirty="0"/>
          </a:p>
        </p:txBody>
      </p:sp>
      <p:sp>
        <p:nvSpPr>
          <p:cNvPr id="47" name="Text 43"/>
          <p:cNvSpPr/>
          <p:nvPr/>
        </p:nvSpPr>
        <p:spPr>
          <a:xfrm>
            <a:off x="7588949" y="4255591"/>
            <a:ext cx="12241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Tokens/Chunk</a:t>
            </a:r>
            <a:endParaRPr lang="en-US" sz="750" dirty="0"/>
          </a:p>
        </p:txBody>
      </p:sp>
      <p:pic>
        <p:nvPicPr>
          <p:cNvPr id="48" name="Image 2" descr="/tmp/rasterized-gradient-34bd05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05400"/>
            <a:ext cx="9144000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38125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 Retrieval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619125"/>
            <a:ext cx="874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Processing Pipeline with 4 Agents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90500" y="1101030"/>
            <a:ext cx="857250" cy="792361"/>
          </a:xfrm>
          <a:prstGeom prst="roundRect">
            <a:avLst>
              <a:gd name="adj" fmla="val 9617"/>
            </a:avLst>
          </a:prstGeom>
          <a:solidFill>
            <a:srgbClr val="152238"/>
          </a:solidFill>
          <a:ln w="19050">
            <a:solidFill>
              <a:srgbClr val="FFD7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98513" y="1278136"/>
            <a:ext cx="6412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98513" y="1582936"/>
            <a:ext cx="6412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Query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3950" y="1363861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pic>
        <p:nvPicPr>
          <p:cNvPr id="8" name="Image 0" descr="/tmp/rasterized-gradient-9d1120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650" y="1101030"/>
            <a:ext cx="857250" cy="79236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79233" y="1215330"/>
            <a:ext cx="680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479233" y="1520130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479233" y="1672530"/>
            <a:ext cx="6800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RAG/CHAT/NO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2324100" y="1363861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pic>
        <p:nvPicPr>
          <p:cNvPr id="13" name="Image 1" descr="/tmp/rasterized-gradient-14fefa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800" y="1101030"/>
            <a:ext cx="857250" cy="79236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79383" y="1215330"/>
            <a:ext cx="680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679383" y="1520130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Rewriter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2679383" y="1672530"/>
            <a:ext cx="6800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Query</a:t>
            </a:r>
            <a:endParaRPr lang="en-US" sz="600" dirty="0"/>
          </a:p>
        </p:txBody>
      </p:sp>
      <p:sp>
        <p:nvSpPr>
          <p:cNvPr id="17" name="Text 13"/>
          <p:cNvSpPr/>
          <p:nvPr/>
        </p:nvSpPr>
        <p:spPr>
          <a:xfrm>
            <a:off x="3524250" y="1363861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790950" y="1101030"/>
            <a:ext cx="952500" cy="792361"/>
          </a:xfrm>
          <a:prstGeom prst="roundRect">
            <a:avLst>
              <a:gd name="adj" fmla="val 9617"/>
            </a:avLst>
          </a:prstGeom>
          <a:solidFill>
            <a:srgbClr val="152238"/>
          </a:solidFill>
          <a:ln w="19050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3898011" y="1215330"/>
            <a:ext cx="7383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3898011" y="1520130"/>
            <a:ext cx="7383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Search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3898011" y="1672530"/>
            <a:ext cx="73837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+ BM25</a:t>
            </a:r>
            <a:endParaRPr lang="en-US" sz="600" dirty="0"/>
          </a:p>
        </p:txBody>
      </p:sp>
      <p:sp>
        <p:nvSpPr>
          <p:cNvPr id="22" name="Text 18"/>
          <p:cNvSpPr/>
          <p:nvPr/>
        </p:nvSpPr>
        <p:spPr>
          <a:xfrm>
            <a:off x="4819650" y="1363861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5086350" y="1101030"/>
            <a:ext cx="857250" cy="792361"/>
          </a:xfrm>
          <a:prstGeom prst="roundRect">
            <a:avLst>
              <a:gd name="adj" fmla="val 9617"/>
            </a:avLst>
          </a:prstGeom>
          <a:solidFill>
            <a:srgbClr val="152238"/>
          </a:solidFill>
          <a:ln w="19050">
            <a:solidFill>
              <a:srgbClr val="FFD7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5194364" y="1215330"/>
            <a:ext cx="6412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5194364" y="1520130"/>
            <a:ext cx="6412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Reranker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5194364" y="1672530"/>
            <a:ext cx="64122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10→5</a:t>
            </a:r>
            <a:endParaRPr lang="en-US" sz="600" dirty="0"/>
          </a:p>
        </p:txBody>
      </p:sp>
      <p:sp>
        <p:nvSpPr>
          <p:cNvPr id="27" name="Text 23"/>
          <p:cNvSpPr/>
          <p:nvPr/>
        </p:nvSpPr>
        <p:spPr>
          <a:xfrm>
            <a:off x="6019800" y="1363861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pic>
        <p:nvPicPr>
          <p:cNvPr id="28" name="Image 2" descr="/tmp/rasterized-gradient-2ad0a7b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1101030"/>
            <a:ext cx="857250" cy="792361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375083" y="1215330"/>
            <a:ext cx="680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6375083" y="1520130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750" dirty="0"/>
          </a:p>
        </p:txBody>
      </p:sp>
      <p:sp>
        <p:nvSpPr>
          <p:cNvPr id="31" name="Text 26"/>
          <p:cNvSpPr/>
          <p:nvPr/>
        </p:nvSpPr>
        <p:spPr>
          <a:xfrm>
            <a:off x="6375083" y="1672530"/>
            <a:ext cx="6800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Citations</a:t>
            </a:r>
            <a:endParaRPr lang="en-US" sz="600" dirty="0"/>
          </a:p>
        </p:txBody>
      </p:sp>
      <p:sp>
        <p:nvSpPr>
          <p:cNvPr id="32" name="Text 27"/>
          <p:cNvSpPr/>
          <p:nvPr/>
        </p:nvSpPr>
        <p:spPr>
          <a:xfrm>
            <a:off x="7219950" y="1363861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7486650" y="1101030"/>
            <a:ext cx="857250" cy="792361"/>
          </a:xfrm>
          <a:prstGeom prst="roundRect">
            <a:avLst>
              <a:gd name="adj" fmla="val 9617"/>
            </a:avLst>
          </a:prstGeom>
          <a:solidFill>
            <a:srgbClr val="152238"/>
          </a:solidFill>
          <a:ln w="19050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7594663" y="1215330"/>
            <a:ext cx="6412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500" dirty="0"/>
          </a:p>
        </p:txBody>
      </p:sp>
      <p:sp>
        <p:nvSpPr>
          <p:cNvPr id="35" name="Text 30"/>
          <p:cNvSpPr/>
          <p:nvPr/>
        </p:nvSpPr>
        <p:spPr>
          <a:xfrm>
            <a:off x="7594663" y="1520130"/>
            <a:ext cx="6412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7594663" y="1672530"/>
            <a:ext cx="64122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[2] cited</a:t>
            </a:r>
            <a:endParaRPr lang="en-US" sz="600" dirty="0"/>
          </a:p>
        </p:txBody>
      </p:sp>
      <p:sp>
        <p:nvSpPr>
          <p:cNvPr id="37" name="Text 32"/>
          <p:cNvSpPr/>
          <p:nvPr/>
        </p:nvSpPr>
        <p:spPr>
          <a:xfrm>
            <a:off x="190500" y="2007691"/>
            <a:ext cx="2105025" cy="2992934"/>
          </a:xfrm>
          <a:prstGeom prst="roundRect">
            <a:avLst>
              <a:gd name="adj" fmla="val 4525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3"/>
          <p:cNvSpPr/>
          <p:nvPr/>
        </p:nvSpPr>
        <p:spPr>
          <a:xfrm>
            <a:off x="209550" y="2007691"/>
            <a:ext cx="0" cy="2992934"/>
          </a:xfrm>
          <a:prstGeom prst="line">
            <a:avLst/>
          </a:prstGeom>
          <a:noFill/>
          <a:ln w="38100">
            <a:solidFill>
              <a:srgbClr val="00D4AA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61950" y="2141041"/>
            <a:ext cx="18362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Agent</a:t>
            </a:r>
            <a:endParaRPr lang="en-US" sz="825" dirty="0"/>
          </a:p>
        </p:txBody>
      </p:sp>
      <p:sp>
        <p:nvSpPr>
          <p:cNvPr id="40" name="Text 35"/>
          <p:cNvSpPr/>
          <p:nvPr/>
        </p:nvSpPr>
        <p:spPr>
          <a:xfrm>
            <a:off x="361950" y="2363837"/>
            <a:ext cx="18362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Classifies query into 3 types:</a:t>
            </a:r>
            <a:endParaRPr lang="en-US" sz="750" dirty="0"/>
          </a:p>
        </p:txBody>
      </p:sp>
      <p:sp>
        <p:nvSpPr>
          <p:cNvPr id="41" name="Text 36"/>
          <p:cNvSpPr/>
          <p:nvPr/>
        </p:nvSpPr>
        <p:spPr>
          <a:xfrm>
            <a:off x="2409825" y="2007691"/>
            <a:ext cx="2105025" cy="2992934"/>
          </a:xfrm>
          <a:prstGeom prst="roundRect">
            <a:avLst>
              <a:gd name="adj" fmla="val 4525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37"/>
          <p:cNvSpPr/>
          <p:nvPr/>
        </p:nvSpPr>
        <p:spPr>
          <a:xfrm>
            <a:off x="2428875" y="2007691"/>
            <a:ext cx="0" cy="2992934"/>
          </a:xfrm>
          <a:prstGeom prst="line">
            <a:avLst/>
          </a:prstGeom>
          <a:noFill/>
          <a:ln w="38100">
            <a:solidFill>
              <a:srgbClr val="FFD700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581275" y="2141041"/>
            <a:ext cx="18362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Retrieval</a:t>
            </a:r>
            <a:endParaRPr lang="en-US" sz="825" dirty="0"/>
          </a:p>
        </p:txBody>
      </p:sp>
      <p:sp>
        <p:nvSpPr>
          <p:cNvPr id="44" name="Text 39"/>
          <p:cNvSpPr/>
          <p:nvPr/>
        </p:nvSpPr>
        <p:spPr>
          <a:xfrm>
            <a:off x="2581275" y="2363837"/>
            <a:ext cx="18362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search methods combined:</a:t>
            </a:r>
            <a:endParaRPr lang="en-US" sz="750" dirty="0"/>
          </a:p>
        </p:txBody>
      </p:sp>
      <p:sp>
        <p:nvSpPr>
          <p:cNvPr id="45" name="Text 40"/>
          <p:cNvSpPr/>
          <p:nvPr/>
        </p:nvSpPr>
        <p:spPr>
          <a:xfrm>
            <a:off x="2581275" y="2554337"/>
            <a:ext cx="18362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Search</a:t>
            </a:r>
            <a:endParaRPr lang="en-US" sz="750" dirty="0"/>
          </a:p>
        </p:txBody>
      </p:sp>
      <p:sp>
        <p:nvSpPr>
          <p:cNvPr id="46" name="Text 41"/>
          <p:cNvSpPr/>
          <p:nvPr/>
        </p:nvSpPr>
        <p:spPr>
          <a:xfrm>
            <a:off x="2581275" y="2706737"/>
            <a:ext cx="18362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"vacation" → finds "annual leave"</a:t>
            </a:r>
            <a:endParaRPr lang="en-US" sz="675" dirty="0"/>
          </a:p>
        </p:txBody>
      </p:sp>
      <p:sp>
        <p:nvSpPr>
          <p:cNvPr id="47" name="Text 42"/>
          <p:cNvSpPr/>
          <p:nvPr/>
        </p:nvSpPr>
        <p:spPr>
          <a:xfrm>
            <a:off x="2581275" y="2883843"/>
            <a:ext cx="18362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(Keyword)</a:t>
            </a:r>
            <a:endParaRPr lang="en-US" sz="750" dirty="0"/>
          </a:p>
        </p:txBody>
      </p:sp>
      <p:sp>
        <p:nvSpPr>
          <p:cNvPr id="48" name="Text 43"/>
          <p:cNvSpPr/>
          <p:nvPr/>
        </p:nvSpPr>
        <p:spPr>
          <a:xfrm>
            <a:off x="2581275" y="3036243"/>
            <a:ext cx="18362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"Article 70" → exact match</a:t>
            </a:r>
            <a:endParaRPr lang="en-US" sz="675" dirty="0"/>
          </a:p>
        </p:txBody>
      </p:sp>
      <p:sp>
        <p:nvSpPr>
          <p:cNvPr id="49" name="Text 44"/>
          <p:cNvSpPr/>
          <p:nvPr/>
        </p:nvSpPr>
        <p:spPr>
          <a:xfrm>
            <a:off x="4629150" y="2007691"/>
            <a:ext cx="2105025" cy="2992934"/>
          </a:xfrm>
          <a:prstGeom prst="roundRect">
            <a:avLst>
              <a:gd name="adj" fmla="val 4525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Shape 45"/>
          <p:cNvSpPr/>
          <p:nvPr/>
        </p:nvSpPr>
        <p:spPr>
          <a:xfrm>
            <a:off x="4648200" y="2007691"/>
            <a:ext cx="0" cy="2992934"/>
          </a:xfrm>
          <a:prstGeom prst="line">
            <a:avLst/>
          </a:prstGeom>
          <a:noFill/>
          <a:ln w="38100">
            <a:solidFill>
              <a:srgbClr val="00D4AA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4800600" y="2141041"/>
            <a:ext cx="18362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+ Citations</a:t>
            </a:r>
            <a:endParaRPr lang="en-US" sz="825" dirty="0"/>
          </a:p>
        </p:txBody>
      </p:sp>
      <p:sp>
        <p:nvSpPr>
          <p:cNvPr id="52" name="Text 47"/>
          <p:cNvSpPr/>
          <p:nvPr/>
        </p:nvSpPr>
        <p:spPr>
          <a:xfrm>
            <a:off x="4800600" y="2363837"/>
            <a:ext cx="18362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built with numbered sources:</a:t>
            </a:r>
            <a:endParaRPr lang="en-US" sz="750" dirty="0"/>
          </a:p>
        </p:txBody>
      </p:sp>
      <p:sp>
        <p:nvSpPr>
          <p:cNvPr id="53" name="Text 48"/>
          <p:cNvSpPr/>
          <p:nvPr/>
        </p:nvSpPr>
        <p:spPr>
          <a:xfrm>
            <a:off x="4800600" y="2554337"/>
            <a:ext cx="1800225" cy="727472"/>
          </a:xfrm>
          <a:prstGeom prst="roundRect">
            <a:avLst>
              <a:gd name="adj" fmla="val 7856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9"/>
          <p:cNvSpPr/>
          <p:nvPr/>
        </p:nvSpPr>
        <p:spPr>
          <a:xfrm>
            <a:off x="4876800" y="2630537"/>
            <a:ext cx="168078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Source: HR_Bylaws.pdf</a:t>
            </a:r>
            <a:endParaRPr lang="en-US" sz="675" dirty="0"/>
          </a:p>
        </p:txBody>
      </p:sp>
      <p:sp>
        <p:nvSpPr>
          <p:cNvPr id="55" name="Text 50"/>
          <p:cNvSpPr/>
          <p:nvPr/>
        </p:nvSpPr>
        <p:spPr>
          <a:xfrm>
            <a:off x="4876800" y="2769543"/>
            <a:ext cx="168078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 70: Annual leave...</a:t>
            </a:r>
            <a:endParaRPr lang="en-US" sz="675" dirty="0"/>
          </a:p>
        </p:txBody>
      </p:sp>
      <p:sp>
        <p:nvSpPr>
          <p:cNvPr id="56" name="Text 51"/>
          <p:cNvSpPr/>
          <p:nvPr/>
        </p:nvSpPr>
        <p:spPr>
          <a:xfrm>
            <a:off x="4876800" y="2946648"/>
            <a:ext cx="168078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Source: HR_Bylaws.pdf</a:t>
            </a:r>
            <a:endParaRPr lang="en-US" sz="675" dirty="0"/>
          </a:p>
        </p:txBody>
      </p:sp>
      <p:sp>
        <p:nvSpPr>
          <p:cNvPr id="57" name="Text 52"/>
          <p:cNvSpPr/>
          <p:nvPr/>
        </p:nvSpPr>
        <p:spPr>
          <a:xfrm>
            <a:off x="4876800" y="3085654"/>
            <a:ext cx="168078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 71: Calculation...</a:t>
            </a:r>
            <a:endParaRPr lang="en-US" sz="675" dirty="0"/>
          </a:p>
        </p:txBody>
      </p:sp>
      <p:sp>
        <p:nvSpPr>
          <p:cNvPr id="58" name="Text 53"/>
          <p:cNvSpPr/>
          <p:nvPr/>
        </p:nvSpPr>
        <p:spPr>
          <a:xfrm>
            <a:off x="6848475" y="2007691"/>
            <a:ext cx="2105025" cy="2992934"/>
          </a:xfrm>
          <a:prstGeom prst="roundRect">
            <a:avLst>
              <a:gd name="adj" fmla="val 4525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Shape 54"/>
          <p:cNvSpPr/>
          <p:nvPr/>
        </p:nvSpPr>
        <p:spPr>
          <a:xfrm>
            <a:off x="6867525" y="2007691"/>
            <a:ext cx="0" cy="2992934"/>
          </a:xfrm>
          <a:prstGeom prst="line">
            <a:avLst/>
          </a:prstGeom>
          <a:noFill/>
          <a:ln w="38100">
            <a:solidFill>
              <a:srgbClr val="FFD700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7019925" y="2141041"/>
            <a:ext cx="18362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Memory</a:t>
            </a:r>
            <a:endParaRPr lang="en-US" sz="825" dirty="0"/>
          </a:p>
        </p:txBody>
      </p:sp>
      <p:sp>
        <p:nvSpPr>
          <p:cNvPr id="61" name="Text 56"/>
          <p:cNvSpPr/>
          <p:nvPr/>
        </p:nvSpPr>
        <p:spPr>
          <a:xfrm>
            <a:off x="7019925" y="2363837"/>
            <a:ext cx="18362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5 messages for context:</a:t>
            </a:r>
            <a:endParaRPr lang="en-US" sz="750" dirty="0"/>
          </a:p>
        </p:txBody>
      </p:sp>
      <p:sp>
        <p:nvSpPr>
          <p:cNvPr id="62" name="Text 57"/>
          <p:cNvSpPr/>
          <p:nvPr/>
        </p:nvSpPr>
        <p:spPr>
          <a:xfrm>
            <a:off x="7019925" y="2554337"/>
            <a:ext cx="1800225" cy="746522"/>
          </a:xfrm>
          <a:prstGeom prst="roundRect">
            <a:avLst>
              <a:gd name="adj" fmla="val 7656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8"/>
          <p:cNvSpPr/>
          <p:nvPr/>
        </p:nvSpPr>
        <p:spPr>
          <a:xfrm>
            <a:off x="7096125" y="2630537"/>
            <a:ext cx="168078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User: What is annual leave?</a:t>
            </a:r>
            <a:endParaRPr lang="en-US" sz="675" dirty="0"/>
          </a:p>
        </p:txBody>
      </p:sp>
      <p:sp>
        <p:nvSpPr>
          <p:cNvPr id="64" name="Text 59"/>
          <p:cNvSpPr/>
          <p:nvPr/>
        </p:nvSpPr>
        <p:spPr>
          <a:xfrm>
            <a:off x="7096125" y="2788593"/>
            <a:ext cx="168078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AI: 30 working days per...</a:t>
            </a:r>
            <a:endParaRPr lang="en-US" sz="675" dirty="0"/>
          </a:p>
        </p:txBody>
      </p:sp>
      <p:sp>
        <p:nvSpPr>
          <p:cNvPr id="65" name="Text 60"/>
          <p:cNvSpPr/>
          <p:nvPr/>
        </p:nvSpPr>
        <p:spPr>
          <a:xfrm>
            <a:off x="7096125" y="2946648"/>
            <a:ext cx="168078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User: How many days?</a:t>
            </a:r>
            <a:endParaRPr lang="en-US" sz="675" dirty="0"/>
          </a:p>
        </p:txBody>
      </p:sp>
      <p:sp>
        <p:nvSpPr>
          <p:cNvPr id="66" name="Text 61"/>
          <p:cNvSpPr/>
          <p:nvPr/>
        </p:nvSpPr>
        <p:spPr>
          <a:xfrm>
            <a:off x="7096125" y="3104704"/>
            <a:ext cx="168078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Knows context is "leave"</a:t>
            </a:r>
            <a:endParaRPr lang="en-US" sz="675" dirty="0"/>
          </a:p>
        </p:txBody>
      </p:sp>
      <p:pic>
        <p:nvPicPr>
          <p:cNvPr id="67" name="Image 3" descr="/tmp/rasterized-gradient-57fd11b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105400"/>
            <a:ext cx="9144000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38125"/>
            <a:ext cx="482860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Future Enhancements &amp; Value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90500" y="809625"/>
            <a:ext cx="4305300" cy="1289000"/>
          </a:xfrm>
          <a:prstGeom prst="roundRect">
            <a:avLst>
              <a:gd name="adj" fmla="val 7389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09550" y="809625"/>
            <a:ext cx="0" cy="1289000"/>
          </a:xfrm>
          <a:prstGeom prst="line">
            <a:avLst/>
          </a:prstGeom>
          <a:noFill/>
          <a:ln w="381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1950" y="942975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1008757"/>
            <a:ext cx="145231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 Support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61950" y="1323975"/>
            <a:ext cx="408051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Arabic language support with multilingual embeddings. Query in Arabic, retrieve English docs, respond in Arabic.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90500" y="2212925"/>
            <a:ext cx="4305300" cy="1289000"/>
          </a:xfrm>
          <a:prstGeom prst="roundRect">
            <a:avLst>
              <a:gd name="adj" fmla="val 7389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09550" y="2212925"/>
            <a:ext cx="0" cy="1289000"/>
          </a:xfrm>
          <a:prstGeom prst="line">
            <a:avLst/>
          </a:prstGeom>
          <a:noFill/>
          <a:ln w="38100">
            <a:solidFill>
              <a:srgbClr val="FFD7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950" y="2346275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FFD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62000" y="2412057"/>
            <a:ext cx="165178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Analytics Dashboard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61950" y="2727275"/>
            <a:ext cx="408051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most asked questions, identify policy gaps, monitor response quality and user satisfaction over time.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90500" y="3616226"/>
            <a:ext cx="4305300" cy="1289000"/>
          </a:xfrm>
          <a:prstGeom prst="roundRect">
            <a:avLst>
              <a:gd name="adj" fmla="val 7389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09550" y="3616226"/>
            <a:ext cx="0" cy="1289000"/>
          </a:xfrm>
          <a:prstGeom prst="line">
            <a:avLst/>
          </a:prstGeom>
          <a:noFill/>
          <a:ln w="381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950" y="3749576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62000" y="3815358"/>
            <a:ext cx="181755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Auto-Sync Document Updates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361950" y="4130576"/>
            <a:ext cx="408051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folder for new/updated PDFs. Auto-reindex changed documents. Version tracking for policy changes.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648200" y="809625"/>
            <a:ext cx="4305300" cy="1181249"/>
          </a:xfrm>
          <a:prstGeom prst="roundRect">
            <a:avLst>
              <a:gd name="adj" fmla="val 8063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67250" y="809625"/>
            <a:ext cx="0" cy="1181249"/>
          </a:xfrm>
          <a:prstGeom prst="line">
            <a:avLst/>
          </a:prstGeom>
          <a:noFill/>
          <a:ln w="38100">
            <a:solidFill>
              <a:srgbClr val="FFD7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9650" y="942975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FFD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219700" y="1008757"/>
            <a:ext cx="165178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4819650" y="1323975"/>
            <a:ext cx="408051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document access per user role. HR staff see all, general employees see public policies only.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648200" y="2105174"/>
            <a:ext cx="4305300" cy="1181249"/>
          </a:xfrm>
          <a:prstGeom prst="roundRect">
            <a:avLst>
              <a:gd name="adj" fmla="val 8063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67250" y="2105174"/>
            <a:ext cx="0" cy="1181249"/>
          </a:xfrm>
          <a:prstGeom prst="line">
            <a:avLst/>
          </a:prstGeom>
          <a:noFill/>
          <a:ln w="38100">
            <a:solidFill>
              <a:srgbClr val="00D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9650" y="2238524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219700" y="2304306"/>
            <a:ext cx="11370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Caching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4819650" y="2619524"/>
            <a:ext cx="408051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frequent queries with Redis. Instant responses for common questions. Reduce LLM load by 60%+.</a:t>
            </a:r>
            <a:endParaRPr lang="en-US" sz="750" dirty="0"/>
          </a:p>
        </p:txBody>
      </p:sp>
      <p:pic>
        <p:nvPicPr>
          <p:cNvPr id="28" name="Image 0" descr="/tmp/rasterized-gradient-58e93f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3400723"/>
            <a:ext cx="4305300" cy="1504801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4819650" y="3572173"/>
            <a:ext cx="40416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800314" y="3827413"/>
            <a:ext cx="19722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4800314" y="4113163"/>
            <a:ext cx="197224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Policy Lookup</a:t>
            </a:r>
            <a:endParaRPr lang="en-US" sz="675" dirty="0"/>
          </a:p>
        </p:txBody>
      </p:sp>
      <p:sp>
        <p:nvSpPr>
          <p:cNvPr id="32" name="Text 29"/>
          <p:cNvSpPr/>
          <p:nvPr/>
        </p:nvSpPr>
        <p:spPr>
          <a:xfrm>
            <a:off x="6829139" y="3827413"/>
            <a:ext cx="19722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6829139" y="4113163"/>
            <a:ext cx="197224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</a:t>
            </a:r>
            <a:endParaRPr lang="en-US" sz="675" dirty="0"/>
          </a:p>
        </p:txBody>
      </p:sp>
      <p:sp>
        <p:nvSpPr>
          <p:cNvPr id="34" name="Text 31"/>
          <p:cNvSpPr/>
          <p:nvPr/>
        </p:nvSpPr>
        <p:spPr>
          <a:xfrm>
            <a:off x="4800314" y="4328368"/>
            <a:ext cx="19722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4800314" y="4614118"/>
            <a:ext cx="197224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Costs (Local)</a:t>
            </a:r>
            <a:endParaRPr lang="en-US" sz="675" dirty="0"/>
          </a:p>
        </p:txBody>
      </p:sp>
      <p:sp>
        <p:nvSpPr>
          <p:cNvPr id="36" name="Text 33"/>
          <p:cNvSpPr/>
          <p:nvPr/>
        </p:nvSpPr>
        <p:spPr>
          <a:xfrm>
            <a:off x="6829139" y="4328368"/>
            <a:ext cx="19722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6829139" y="4614118"/>
            <a:ext cx="197224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Privacy</a:t>
            </a:r>
            <a:endParaRPr lang="en-US" sz="675" dirty="0"/>
          </a:p>
        </p:txBody>
      </p:sp>
      <p:pic>
        <p:nvPicPr>
          <p:cNvPr id="38" name="Image 1" descr="/tmp/rasterized-gradient-7e0d61d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05400"/>
            <a:ext cx="9144000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1587" y="380107"/>
            <a:ext cx="2340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545954" y="1142107"/>
            <a:ext cx="20519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3000"/>
              </a:spcAft>
              <a:buNone/>
            </a:pPr>
            <a:r>
              <a:rPr lang="en-US" sz="15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784007" y="2475607"/>
            <a:ext cx="725778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84007" y="2940397"/>
            <a:ext cx="7257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78776" y="2475607"/>
            <a:ext cx="49913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878776" y="2940397"/>
            <a:ext cx="4991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49634" y="2475607"/>
            <a:ext cx="447065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749634" y="2940397"/>
            <a:ext cx="4470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65520" y="2475607"/>
            <a:ext cx="79515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565520" y="2940397"/>
            <a:ext cx="79515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29817" y="3633788"/>
            <a:ext cx="1309092" cy="409575"/>
          </a:xfrm>
          <a:prstGeom prst="roundRect">
            <a:avLst>
              <a:gd name="adj" fmla="val 18605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091309" y="3633788"/>
            <a:ext cx="1163092" cy="409575"/>
          </a:xfrm>
          <a:prstGeom prst="roundRect">
            <a:avLst>
              <a:gd name="adj" fmla="val 18605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406801" y="3633788"/>
            <a:ext cx="1461492" cy="409575"/>
          </a:xfrm>
          <a:prstGeom prst="roundRect">
            <a:avLst>
              <a:gd name="adj" fmla="val 18605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20693" y="3633788"/>
            <a:ext cx="1493490" cy="409575"/>
          </a:xfrm>
          <a:prstGeom prst="roundRect">
            <a:avLst>
              <a:gd name="adj" fmla="val 18605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519994" y="4576763"/>
            <a:ext cx="210401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Mostafa Hussein • December 2025</a:t>
            </a:r>
            <a:endParaRPr lang="en-US" sz="1050" dirty="0"/>
          </a:p>
        </p:txBody>
      </p:sp>
      <p:pic>
        <p:nvPicPr>
          <p:cNvPr id="17" name="Image 0" descr="/tmp/rasterized-gradient-cc017f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05400"/>
            <a:ext cx="9144000" cy="38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Abu Dhabi Agentic RAG System</dc:title>
  <dc:subject>ADIA Technical Assessment</dc:subject>
  <dc:creator>Mostafa Hussein</dc:creator>
  <cp:lastModifiedBy>Mostafa Hussein</cp:lastModifiedBy>
  <cp:revision>5</cp:revision>
  <dcterms:created xsi:type="dcterms:W3CDTF">2025-12-10T19:39:27Z</dcterms:created>
  <dcterms:modified xsi:type="dcterms:W3CDTF">2025-12-10T19:50:38Z</dcterms:modified>
</cp:coreProperties>
</file>